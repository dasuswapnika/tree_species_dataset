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8" r:id="rId9"/>
    <p:sldId id="267" r:id="rId10"/>
    <p:sldId id="269" r:id="rId11"/>
    <p:sldId id="266" r:id="rId12"/>
    <p:sldId id="262"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668" y="320"/>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7024414" cy="2308324"/>
          </a:xfrm>
          <a:prstGeom prst="rect">
            <a:avLst/>
          </a:prstGeom>
          <a:noFill/>
        </p:spPr>
        <p:txBody>
          <a:bodyPr wrap="square" rtlCol="0">
            <a:spAutoFit/>
          </a:bodyPr>
          <a:lstStyle/>
          <a:p>
            <a:pPr algn="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3600" dirty="0">
                <a:solidFill>
                  <a:schemeClr val="bg1"/>
                </a:solidFill>
                <a:effectLst>
                  <a:glow rad="139700">
                    <a:schemeClr val="accent6">
                      <a:satMod val="175000"/>
                      <a:alpha val="40000"/>
                    </a:schemeClr>
                  </a:glow>
                </a:effectLst>
                <a:latin typeface="Calibri" panose="020F0502020204030204" pitchFamily="34" charset="0"/>
                <a:ea typeface="Calibri" panose="020F0502020204030204" pitchFamily="34" charset="0"/>
                <a:cs typeface="Calibri" panose="020F0502020204030204" pitchFamily="34" charset="0"/>
              </a:rPr>
              <a:t>Tree Species Classification &amp; Intelligence Assistant</a:t>
            </a:r>
          </a:p>
          <a:p>
            <a:pPr algn="r"/>
            <a:r>
              <a:rPr lang="en-US" sz="3600" b="1" dirty="0">
                <a:solidFill>
                  <a:schemeClr val="bg1"/>
                </a:solidFill>
                <a:latin typeface="Calibri" panose="020F0502020204030204" pitchFamily="34" charset="0"/>
                <a:cs typeface="Times New Roman" panose="02020603050405020304" pitchFamily="18" charset="0"/>
              </a:rPr>
              <a:t>       </a:t>
            </a:r>
          </a:p>
          <a:p>
            <a:pPr algn="r"/>
            <a:r>
              <a:rPr lang="en-US" sz="3600" b="1" dirty="0">
                <a:solidFill>
                  <a:schemeClr val="bg1"/>
                </a:solidFill>
                <a:latin typeface="Calibri" panose="020F0502020204030204" pitchFamily="34" charset="0"/>
                <a:cs typeface="Times New Roman" panose="02020603050405020304" pitchFamily="18" charset="0"/>
              </a:rPr>
              <a:t> BY DASU SWAPNIKA   </a:t>
            </a:r>
            <a:r>
              <a:rPr lang="en-IN" sz="3600" b="1" dirty="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7143610" cy="4401205"/>
          </a:xfrm>
          <a:prstGeom prst="rect">
            <a:avLst/>
          </a:prstGeom>
          <a:noFill/>
        </p:spPr>
        <p:txBody>
          <a:bodyPr wrap="square">
            <a:spAutoFit/>
          </a:bodyPr>
          <a:lstStyle/>
          <a:p>
            <a:r>
              <a:rPr lang="en-US" sz="2000" b="1" dirty="0"/>
              <a:t>🌳 Introduction</a:t>
            </a:r>
          </a:p>
          <a:p>
            <a:r>
              <a:rPr lang="en-US" sz="2000" dirty="0"/>
              <a:t>Tree species identification is important in forestry and environmental studies. Manual identification is difficult and time-consuming. This project uses </a:t>
            </a:r>
            <a:r>
              <a:rPr lang="en-US" sz="2000" b="1" dirty="0"/>
              <a:t>deep learning</a:t>
            </a:r>
            <a:r>
              <a:rPr lang="en-US" sz="2000" dirty="0"/>
              <a:t> to automatically classify tree species from </a:t>
            </a:r>
            <a:r>
              <a:rPr lang="en-US" sz="2000" b="1" dirty="0"/>
              <a:t>leaf images</a:t>
            </a:r>
            <a:r>
              <a:rPr lang="en-US" sz="2000" dirty="0"/>
              <a:t> using a web-based system.</a:t>
            </a:r>
          </a:p>
          <a:p>
            <a:br>
              <a:rPr lang="en-US" sz="2000" dirty="0"/>
            </a:br>
            <a:endParaRPr lang="en-US" sz="2000" dirty="0"/>
          </a:p>
          <a:p>
            <a:r>
              <a:rPr lang="en-US" sz="2000" b="1" dirty="0"/>
              <a:t>🎯 Objectives</a:t>
            </a:r>
          </a:p>
          <a:p>
            <a:r>
              <a:rPr lang="en-US" sz="2000" dirty="0"/>
              <a:t>To classify tree species using leaf images</a:t>
            </a:r>
          </a:p>
          <a:p>
            <a:r>
              <a:rPr lang="en-US" sz="2000" dirty="0"/>
              <a:t>To use </a:t>
            </a:r>
            <a:r>
              <a:rPr lang="en-US" sz="2000" b="1" dirty="0"/>
              <a:t>CNN-based deep learning</a:t>
            </a:r>
            <a:r>
              <a:rPr lang="en-US" sz="2000" dirty="0"/>
              <a:t> for accurate prediction</a:t>
            </a:r>
          </a:p>
          <a:p>
            <a:r>
              <a:rPr lang="en-US" sz="2000" dirty="0"/>
              <a:t>To develop an </a:t>
            </a:r>
            <a:r>
              <a:rPr lang="en-US" sz="2000" b="1" dirty="0"/>
              <a:t>easy-to-use web application</a:t>
            </a:r>
            <a:r>
              <a:rPr lang="en-US" sz="2000" dirty="0"/>
              <a:t> for deployment</a:t>
            </a:r>
          </a:p>
          <a:p>
            <a:endParaRPr lang="en-US" sz="2000" dirty="0"/>
          </a:p>
          <a:p>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3" y="1067664"/>
            <a:ext cx="11700567" cy="7478970"/>
          </a:xfrm>
          <a:prstGeom prst="rect">
            <a:avLst/>
          </a:prstGeom>
          <a:noFill/>
        </p:spPr>
        <p:txBody>
          <a:bodyPr wrap="square">
            <a:spAutoFit/>
          </a:bodyPr>
          <a:lstStyle/>
          <a:p>
            <a:r>
              <a:rPr lang="en-IN" sz="2000" b="1" dirty="0"/>
              <a:t>Tools &amp; Technologies</a:t>
            </a:r>
            <a:endParaRPr lang="en-IN" sz="2000" dirty="0"/>
          </a:p>
          <a:p>
            <a:r>
              <a:rPr lang="en-IN" sz="2000" dirty="0"/>
              <a:t>Python</a:t>
            </a:r>
          </a:p>
          <a:p>
            <a:r>
              <a:rPr lang="en-IN" sz="2000" dirty="0"/>
              <a:t>TensorFlow/</a:t>
            </a:r>
            <a:r>
              <a:rPr lang="en-IN" sz="2000" dirty="0" err="1"/>
              <a:t>Keras</a:t>
            </a:r>
            <a:r>
              <a:rPr lang="en-IN" sz="2000" dirty="0"/>
              <a:t> (MobileNetV2)</a:t>
            </a:r>
          </a:p>
          <a:p>
            <a:r>
              <a:rPr lang="en-IN" sz="2000" dirty="0"/>
              <a:t>OpenCV, NumPy</a:t>
            </a:r>
          </a:p>
          <a:p>
            <a:r>
              <a:rPr lang="en-IN" sz="2000" dirty="0" err="1"/>
              <a:t>Streamlit</a:t>
            </a:r>
            <a:r>
              <a:rPr lang="en-IN" sz="2000" dirty="0"/>
              <a:t> (Web app)</a:t>
            </a:r>
          </a:p>
          <a:p>
            <a:r>
              <a:rPr lang="en-IN" sz="2000" dirty="0"/>
              <a:t>VS Code / PyCharm</a:t>
            </a:r>
          </a:p>
          <a:p>
            <a:r>
              <a:rPr lang="en-IN" sz="2000" dirty="0"/>
              <a:t>GitHub (Project repository)</a:t>
            </a:r>
          </a:p>
          <a:p>
            <a:br>
              <a:rPr lang="en-IN" sz="2000" dirty="0"/>
            </a:br>
            <a:endParaRPr lang="en-IN" sz="2000" dirty="0"/>
          </a:p>
          <a:p>
            <a:r>
              <a:rPr lang="en-IN" sz="2000" b="1" dirty="0"/>
              <a:t>💡 What Each Does (Short &amp; Simple)</a:t>
            </a:r>
          </a:p>
          <a:p>
            <a:r>
              <a:rPr lang="en-IN" sz="2000" b="1" dirty="0"/>
              <a:t>Python:</a:t>
            </a:r>
            <a:r>
              <a:rPr lang="en-IN" sz="2000" dirty="0"/>
              <a:t> Main language used.</a:t>
            </a:r>
          </a:p>
          <a:p>
            <a:r>
              <a:rPr lang="en-IN" sz="2000" b="1" dirty="0"/>
              <a:t>TensorFlow/</a:t>
            </a:r>
            <a:r>
              <a:rPr lang="en-IN" sz="2000" b="1" dirty="0" err="1"/>
              <a:t>Keras</a:t>
            </a:r>
            <a:r>
              <a:rPr lang="en-IN" sz="2000" b="1" dirty="0"/>
              <a:t>:</a:t>
            </a:r>
            <a:r>
              <a:rPr lang="en-IN" sz="2000" dirty="0"/>
              <a:t> Train and use the CNN model.</a:t>
            </a:r>
          </a:p>
          <a:p>
            <a:r>
              <a:rPr lang="en-IN" sz="2000" b="1" dirty="0"/>
              <a:t>MobileNetV2:</a:t>
            </a:r>
            <a:r>
              <a:rPr lang="en-IN" sz="2000" dirty="0"/>
              <a:t> A lightweight pre-trained deep learning model for classification.</a:t>
            </a:r>
          </a:p>
          <a:p>
            <a:r>
              <a:rPr lang="en-IN" sz="2000" b="1" dirty="0"/>
              <a:t>OpenCV/NumPy:</a:t>
            </a:r>
            <a:r>
              <a:rPr lang="en-IN" sz="2000" dirty="0"/>
              <a:t> Load and prepare images for the model.</a:t>
            </a:r>
          </a:p>
          <a:p>
            <a:r>
              <a:rPr lang="en-IN" sz="2000" b="1" dirty="0" err="1"/>
              <a:t>Streamlit</a:t>
            </a:r>
            <a:r>
              <a:rPr lang="en-IN" sz="2000" b="1" dirty="0"/>
              <a:t>:</a:t>
            </a:r>
            <a:r>
              <a:rPr lang="en-IN" sz="2000" dirty="0"/>
              <a:t> Makes the model usable via browser.</a:t>
            </a:r>
          </a:p>
          <a:p>
            <a:r>
              <a:rPr lang="en-IN" sz="2000" b="1" dirty="0"/>
              <a:t>run_project.bat:</a:t>
            </a:r>
            <a:r>
              <a:rPr lang="en-IN" sz="2000" dirty="0"/>
              <a:t> One-click way to launch the app.</a:t>
            </a:r>
          </a:p>
          <a:p>
            <a:r>
              <a:rPr lang="en-IN" sz="2000" b="1" dirty="0"/>
              <a:t>GitHub:</a:t>
            </a:r>
            <a:r>
              <a:rPr lang="en-IN" sz="2000" dirty="0"/>
              <a:t> Stores and shares project code.</a:t>
            </a: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p:txBody>
      </p:sp>
      <p:pic>
        <p:nvPicPr>
          <p:cNvPr id="2" name="Picture 1">
            <a:extLst>
              <a:ext uri="{FF2B5EF4-FFF2-40B4-BE49-F238E27FC236}">
                <a16:creationId xmlns:a16="http://schemas.microsoft.com/office/drawing/2014/main" id="{0E579B1B-A41C-C730-3B0E-A947E666851B}"/>
              </a:ext>
            </a:extLst>
          </p:cNvPr>
          <p:cNvPicPr>
            <a:picLocks noChangeAspect="1"/>
          </p:cNvPicPr>
          <p:nvPr/>
        </p:nvPicPr>
        <p:blipFill>
          <a:blip r:embed="rId2"/>
          <a:stretch>
            <a:fillRect/>
          </a:stretch>
        </p:blipFill>
        <p:spPr>
          <a:xfrm>
            <a:off x="10217439" y="1062539"/>
            <a:ext cx="1974561" cy="1876446"/>
          </a:xfrm>
          <a:prstGeom prst="rect">
            <a:avLst/>
          </a:prstGeom>
        </p:spPr>
      </p:pic>
      <p:pic>
        <p:nvPicPr>
          <p:cNvPr id="4" name="Picture 3">
            <a:extLst>
              <a:ext uri="{FF2B5EF4-FFF2-40B4-BE49-F238E27FC236}">
                <a16:creationId xmlns:a16="http://schemas.microsoft.com/office/drawing/2014/main" id="{8426A299-21EF-979E-56FA-9B449BAFACB4}"/>
              </a:ext>
            </a:extLst>
          </p:cNvPr>
          <p:cNvPicPr>
            <a:picLocks noChangeAspect="1"/>
          </p:cNvPicPr>
          <p:nvPr/>
        </p:nvPicPr>
        <p:blipFill>
          <a:blip r:embed="rId3"/>
          <a:stretch>
            <a:fillRect/>
          </a:stretch>
        </p:blipFill>
        <p:spPr>
          <a:xfrm>
            <a:off x="7687733" y="897467"/>
            <a:ext cx="3217334" cy="2531533"/>
          </a:xfrm>
          <a:prstGeom prst="rect">
            <a:avLst/>
          </a:prstGeom>
        </p:spPr>
      </p:pic>
      <p:pic>
        <p:nvPicPr>
          <p:cNvPr id="5" name="Picture 4">
            <a:extLst>
              <a:ext uri="{FF2B5EF4-FFF2-40B4-BE49-F238E27FC236}">
                <a16:creationId xmlns:a16="http://schemas.microsoft.com/office/drawing/2014/main" id="{30D4AD82-FEDC-9805-05EA-182C1940749D}"/>
              </a:ext>
            </a:extLst>
          </p:cNvPr>
          <p:cNvPicPr>
            <a:picLocks noChangeAspect="1"/>
          </p:cNvPicPr>
          <p:nvPr/>
        </p:nvPicPr>
        <p:blipFill>
          <a:blip r:embed="rId4"/>
          <a:stretch>
            <a:fillRect/>
          </a:stretch>
        </p:blipFill>
        <p:spPr>
          <a:xfrm>
            <a:off x="7862927" y="3792406"/>
            <a:ext cx="4329073" cy="2320527"/>
          </a:xfrm>
          <a:prstGeom prst="rect">
            <a:avLst/>
          </a:prstGeom>
        </p:spPr>
      </p:pic>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11923644" cy="5632311"/>
          </a:xfrm>
          <a:prstGeom prst="rect">
            <a:avLst/>
          </a:prstGeom>
          <a:noFill/>
        </p:spPr>
        <p:txBody>
          <a:bodyPr wrap="square">
            <a:spAutoFit/>
          </a:bodyPr>
          <a:lstStyle/>
          <a:p>
            <a:r>
              <a:rPr lang="en-US" sz="2000" b="1" dirty="0"/>
              <a:t>🔁 Methodology</a:t>
            </a:r>
          </a:p>
          <a:p>
            <a:r>
              <a:rPr lang="en-US" sz="2000" b="1" dirty="0"/>
              <a:t>Data Collection</a:t>
            </a:r>
            <a:br>
              <a:rPr lang="en-US" sz="2000" dirty="0"/>
            </a:br>
            <a:r>
              <a:rPr lang="en-US" sz="2000" dirty="0"/>
              <a:t>Tree leaf images are collected from a labeled dataset where each folder represents a tree species.</a:t>
            </a:r>
          </a:p>
          <a:p>
            <a:r>
              <a:rPr lang="en-US" sz="2000" b="1" dirty="0"/>
              <a:t>Image Preprocessing</a:t>
            </a:r>
            <a:br>
              <a:rPr lang="en-US" sz="2000" dirty="0"/>
            </a:br>
            <a:r>
              <a:rPr lang="en-US" sz="2000" dirty="0"/>
              <a:t>The images are resized to a fixed size (224×224), normalized, and prepared for model input.</a:t>
            </a:r>
          </a:p>
          <a:p>
            <a:r>
              <a:rPr lang="en-US" sz="2000" b="1" dirty="0"/>
              <a:t>Dataset Splitting</a:t>
            </a:r>
            <a:br>
              <a:rPr lang="en-US" sz="2000" dirty="0"/>
            </a:br>
            <a:r>
              <a:rPr lang="en-US" sz="2000" dirty="0"/>
              <a:t>The dataset is divided into training and validation sets to evaluate model performance.</a:t>
            </a:r>
          </a:p>
          <a:p>
            <a:r>
              <a:rPr lang="en-US" sz="2000" b="1" dirty="0"/>
              <a:t>Model Selection</a:t>
            </a:r>
            <a:br>
              <a:rPr lang="en-US" sz="2000" dirty="0"/>
            </a:br>
            <a:r>
              <a:rPr lang="en-US" sz="2000" dirty="0"/>
              <a:t>A </a:t>
            </a:r>
            <a:r>
              <a:rPr lang="en-US" sz="2000" b="1" dirty="0"/>
              <a:t>Convolutional Neural Network (MobileNetV2)</a:t>
            </a:r>
            <a:r>
              <a:rPr lang="en-US" sz="2000" dirty="0"/>
              <a:t> is selected using transfer learning for efficient feature extraction.</a:t>
            </a:r>
          </a:p>
          <a:p>
            <a:r>
              <a:rPr lang="en-US" sz="2000" b="1" dirty="0"/>
              <a:t>Model Training</a:t>
            </a:r>
            <a:br>
              <a:rPr lang="en-US" sz="2000" dirty="0"/>
            </a:br>
            <a:r>
              <a:rPr lang="en-US" sz="2000" dirty="0"/>
              <a:t>The CNN model is trained using the training dataset and optimized using the Adam optimizer.</a:t>
            </a:r>
          </a:p>
          <a:p>
            <a:r>
              <a:rPr lang="en-US" sz="2000" b="1" dirty="0"/>
              <a:t>Model Evaluation</a:t>
            </a:r>
            <a:br>
              <a:rPr lang="en-US" sz="2000" dirty="0"/>
            </a:br>
            <a:r>
              <a:rPr lang="en-US" sz="2000" dirty="0"/>
              <a:t>The model’s performance is evaluated using accuracy and validation metrics.</a:t>
            </a:r>
          </a:p>
          <a:p>
            <a:r>
              <a:rPr lang="en-US" sz="2000" b="1" dirty="0"/>
              <a:t>Deployment</a:t>
            </a:r>
            <a:br>
              <a:rPr lang="en-US" sz="2000" dirty="0"/>
            </a:br>
            <a:r>
              <a:rPr lang="en-US" sz="2000" dirty="0"/>
              <a:t>The trained model is deployed as a </a:t>
            </a:r>
            <a:r>
              <a:rPr lang="en-US" sz="2000" b="1" dirty="0"/>
              <a:t>web application using </a:t>
            </a:r>
            <a:r>
              <a:rPr lang="en-US" sz="2000" b="1" dirty="0" err="1"/>
              <a:t>Streamlit</a:t>
            </a:r>
            <a:r>
              <a:rPr lang="en-US" sz="2000" dirty="0"/>
              <a:t>, allowing users to upload images and get predictions.</a:t>
            </a:r>
          </a:p>
          <a:p>
            <a:endParaRPr lang="en-US" sz="2000" dirty="0">
              <a:solidFill>
                <a:schemeClr val="accent1">
                  <a:lumMod val="75000"/>
                </a:schemeClr>
              </a:solidFill>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11936896" cy="3477875"/>
          </a:xfrm>
          <a:prstGeom prst="rect">
            <a:avLst/>
          </a:prstGeom>
          <a:noFill/>
        </p:spPr>
        <p:txBody>
          <a:bodyPr wrap="square">
            <a:spAutoFit/>
          </a:bodyPr>
          <a:lstStyle/>
          <a:p>
            <a:r>
              <a:rPr lang="en-US" sz="2000" b="1" dirty="0"/>
              <a:t>❗ Problem Statement</a:t>
            </a:r>
          </a:p>
          <a:p>
            <a:r>
              <a:rPr lang="en-US" sz="2000" dirty="0"/>
              <a:t>Identifying tree species manually using leaf images is difficult, time-consuming, and requires expert knowledge. There is a need for an automated system that can accurately identify tree species using image-based analysis.</a:t>
            </a:r>
          </a:p>
          <a:p>
            <a:br>
              <a:rPr lang="en-US" sz="2000" dirty="0"/>
            </a:br>
            <a:endParaRPr lang="en-US" sz="2000" dirty="0"/>
          </a:p>
          <a:p>
            <a:r>
              <a:rPr lang="en-US" sz="2000" b="1" dirty="0"/>
              <a:t>🎯 Goal</a:t>
            </a:r>
          </a:p>
          <a:p>
            <a:r>
              <a:rPr lang="en-US" sz="2000" dirty="0"/>
              <a:t>The goal of this project is to develop a deep learning–based system that can automatically classify tree species from leaf images and provide results through a user-friendly web application.</a:t>
            </a:r>
          </a:p>
          <a:p>
            <a:pPr lvl="0"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endParaRPr lang="en-IN" sz="2000" b="1" dirty="0">
              <a:solidFill>
                <a:srgbClr val="213163"/>
              </a:solidFill>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88970" y="1054412"/>
            <a:ext cx="11903030" cy="5632311"/>
          </a:xfrm>
          <a:prstGeom prst="rect">
            <a:avLst/>
          </a:prstGeom>
          <a:noFill/>
        </p:spPr>
        <p:txBody>
          <a:bodyPr wrap="square">
            <a:spAutoFit/>
          </a:bodyPr>
          <a:lstStyle/>
          <a:p>
            <a:r>
              <a:rPr lang="en-US" sz="1800" b="1" dirty="0"/>
              <a:t>🌳 Solution</a:t>
            </a:r>
          </a:p>
          <a:p>
            <a:r>
              <a:rPr lang="en-US" sz="1800" dirty="0"/>
              <a:t>I present </a:t>
            </a:r>
            <a:r>
              <a:rPr lang="en-US" sz="1800" b="1" dirty="0"/>
              <a:t>TREE SPECIES CLASSIFICATION</a:t>
            </a:r>
            <a:r>
              <a:rPr lang="en-US" sz="1800" dirty="0"/>
              <a:t> — an AI-based system that uses </a:t>
            </a:r>
            <a:r>
              <a:rPr lang="en-US" sz="1800" b="1" dirty="0"/>
              <a:t>deep learning and image processing</a:t>
            </a:r>
            <a:r>
              <a:rPr lang="en-US" sz="1800" dirty="0"/>
              <a:t> to automatically identify tree species from leaf images.</a:t>
            </a:r>
            <a:br>
              <a:rPr lang="en-US" sz="1800" dirty="0"/>
            </a:br>
            <a:r>
              <a:rPr lang="en-US" sz="1800" dirty="0"/>
              <a:t>The system simplifies traditional identification by providing </a:t>
            </a:r>
            <a:r>
              <a:rPr lang="en-US" sz="1800" b="1" dirty="0"/>
              <a:t>fast, accurate, and user-friendly predictions</a:t>
            </a:r>
            <a:r>
              <a:rPr lang="en-US" sz="1800" dirty="0"/>
              <a:t> through a web application.</a:t>
            </a:r>
          </a:p>
          <a:p>
            <a:br>
              <a:rPr lang="en-US" sz="1800" dirty="0"/>
            </a:br>
            <a:endParaRPr lang="en-US" sz="1800" dirty="0"/>
          </a:p>
          <a:p>
            <a:r>
              <a:rPr lang="en-US" sz="1800" b="1" dirty="0"/>
              <a:t>🚀 Key Features</a:t>
            </a:r>
          </a:p>
          <a:p>
            <a:r>
              <a:rPr lang="en-US" sz="1800" dirty="0"/>
              <a:t>📷 </a:t>
            </a:r>
            <a:r>
              <a:rPr lang="en-US" sz="1800" b="1" dirty="0"/>
              <a:t>Image-based classification</a:t>
            </a:r>
            <a:br>
              <a:rPr lang="en-US" sz="1800" dirty="0"/>
            </a:br>
            <a:r>
              <a:rPr lang="en-US" sz="1800" dirty="0"/>
              <a:t>Classifies tree species using uploaded leaf images with a CNN model.</a:t>
            </a:r>
          </a:p>
          <a:p>
            <a:r>
              <a:rPr lang="en-US" sz="1800" dirty="0"/>
              <a:t>🧠 </a:t>
            </a:r>
            <a:r>
              <a:rPr lang="en-US" sz="1800" b="1" dirty="0"/>
              <a:t>Deep learning powered</a:t>
            </a:r>
            <a:br>
              <a:rPr lang="en-US" sz="1800" dirty="0"/>
            </a:br>
            <a:r>
              <a:rPr lang="en-US" sz="1800" dirty="0"/>
              <a:t>Uses a Convolutional Neural Network (MobileNetV2) for accurate feature extraction and prediction.</a:t>
            </a:r>
          </a:p>
          <a:p>
            <a:r>
              <a:rPr lang="en-US" sz="1800" dirty="0"/>
              <a:t>⚡ </a:t>
            </a:r>
            <a:r>
              <a:rPr lang="en-US" sz="1800" b="1" dirty="0"/>
              <a:t>Fast and accurate results</a:t>
            </a:r>
            <a:br>
              <a:rPr lang="en-US" sz="1800" dirty="0"/>
            </a:br>
            <a:r>
              <a:rPr lang="en-US" sz="1800" dirty="0"/>
              <a:t>Provides real-time predictions with high accuracy.</a:t>
            </a:r>
          </a:p>
          <a:p>
            <a:r>
              <a:rPr lang="en-US" sz="1800" dirty="0"/>
              <a:t>🌐 </a:t>
            </a:r>
            <a:r>
              <a:rPr lang="en-US" sz="1800" b="1" dirty="0"/>
              <a:t>Web-based application</a:t>
            </a:r>
            <a:br>
              <a:rPr lang="en-US" sz="1800" dirty="0"/>
            </a:br>
            <a:r>
              <a:rPr lang="en-US" sz="1800" dirty="0"/>
              <a:t>Built using </a:t>
            </a:r>
            <a:r>
              <a:rPr lang="en-US" sz="1800" dirty="0" err="1"/>
              <a:t>Streamlit</a:t>
            </a:r>
            <a:r>
              <a:rPr lang="en-US" sz="1800" dirty="0"/>
              <a:t> with a clean and interactive user interface.</a:t>
            </a:r>
          </a:p>
          <a:p>
            <a:r>
              <a:rPr lang="en-US" sz="1800" dirty="0"/>
              <a:t>🖱️ </a:t>
            </a:r>
            <a:r>
              <a:rPr lang="en-US" sz="1800" b="1" dirty="0"/>
              <a:t>Easy to use</a:t>
            </a:r>
            <a:br>
              <a:rPr lang="en-US" sz="1800" dirty="0"/>
            </a:br>
            <a:r>
              <a:rPr lang="en-US" sz="1800" dirty="0"/>
              <a:t>Users can upload images and get results without technical knowledge.</a:t>
            </a:r>
          </a:p>
          <a:p>
            <a:r>
              <a:rPr lang="en-US" sz="1800" dirty="0"/>
              <a:t>🔗 </a:t>
            </a:r>
            <a:r>
              <a:rPr lang="en-US" sz="1800" b="1" dirty="0"/>
              <a:t>Scalable system</a:t>
            </a:r>
            <a:br>
              <a:rPr lang="en-US" sz="1800" dirty="0"/>
            </a:br>
            <a:r>
              <a:rPr lang="en-US" sz="1800" dirty="0"/>
              <a:t>Can be extended to include more tree species and additional image types.</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33E9452D-A6F7-8DDD-891F-EE50D3764B60}"/>
              </a:ext>
            </a:extLst>
          </p:cNvPr>
          <p:cNvPicPr>
            <a:picLocks noChangeAspect="1"/>
          </p:cNvPicPr>
          <p:nvPr/>
        </p:nvPicPr>
        <p:blipFill>
          <a:blip r:embed="rId2"/>
          <a:stretch>
            <a:fillRect/>
          </a:stretch>
        </p:blipFill>
        <p:spPr>
          <a:xfrm>
            <a:off x="0" y="1947333"/>
            <a:ext cx="4851400" cy="2142067"/>
          </a:xfrm>
          <a:prstGeom prst="rect">
            <a:avLst/>
          </a:prstGeom>
        </p:spPr>
      </p:pic>
      <p:pic>
        <p:nvPicPr>
          <p:cNvPr id="6" name="Picture 5">
            <a:extLst>
              <a:ext uri="{FF2B5EF4-FFF2-40B4-BE49-F238E27FC236}">
                <a16:creationId xmlns:a16="http://schemas.microsoft.com/office/drawing/2014/main" id="{F18DE9F5-12FB-F1CD-2A59-D70B07075E18}"/>
              </a:ext>
            </a:extLst>
          </p:cNvPr>
          <p:cNvPicPr>
            <a:picLocks noChangeAspect="1"/>
          </p:cNvPicPr>
          <p:nvPr/>
        </p:nvPicPr>
        <p:blipFill>
          <a:blip r:embed="rId3"/>
          <a:stretch>
            <a:fillRect/>
          </a:stretch>
        </p:blipFill>
        <p:spPr>
          <a:xfrm>
            <a:off x="4851400" y="934361"/>
            <a:ext cx="7085496" cy="5805106"/>
          </a:xfrm>
          <a:prstGeom prst="rect">
            <a:avLst/>
          </a:prstGeom>
        </p:spPr>
      </p:pic>
      <p:pic>
        <p:nvPicPr>
          <p:cNvPr id="8" name="Picture 7">
            <a:extLst>
              <a:ext uri="{FF2B5EF4-FFF2-40B4-BE49-F238E27FC236}">
                <a16:creationId xmlns:a16="http://schemas.microsoft.com/office/drawing/2014/main" id="{F13F7FD7-E781-B98A-093E-F7DDB9B82621}"/>
              </a:ext>
            </a:extLst>
          </p:cNvPr>
          <p:cNvPicPr>
            <a:picLocks noChangeAspect="1"/>
          </p:cNvPicPr>
          <p:nvPr/>
        </p:nvPicPr>
        <p:blipFill>
          <a:blip r:embed="rId4"/>
          <a:stretch>
            <a:fillRect/>
          </a:stretch>
        </p:blipFill>
        <p:spPr>
          <a:xfrm>
            <a:off x="0" y="4089399"/>
            <a:ext cx="4851400" cy="2582334"/>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7B2208-D3C2-E229-85EE-673E0209EF3E}"/>
              </a:ext>
            </a:extLst>
          </p:cNvPr>
          <p:cNvPicPr>
            <a:picLocks noChangeAspect="1"/>
          </p:cNvPicPr>
          <p:nvPr/>
        </p:nvPicPr>
        <p:blipFill>
          <a:blip r:embed="rId2"/>
          <a:stretch>
            <a:fillRect/>
          </a:stretch>
        </p:blipFill>
        <p:spPr>
          <a:xfrm>
            <a:off x="0" y="742476"/>
            <a:ext cx="6891867" cy="5861524"/>
          </a:xfrm>
          <a:prstGeom prst="rect">
            <a:avLst/>
          </a:prstGeom>
        </p:spPr>
      </p:pic>
      <p:pic>
        <p:nvPicPr>
          <p:cNvPr id="7" name="Picture 6">
            <a:extLst>
              <a:ext uri="{FF2B5EF4-FFF2-40B4-BE49-F238E27FC236}">
                <a16:creationId xmlns:a16="http://schemas.microsoft.com/office/drawing/2014/main" id="{F37A5ADC-1F1E-D436-5919-3DC2C5F31F1F}"/>
              </a:ext>
            </a:extLst>
          </p:cNvPr>
          <p:cNvPicPr>
            <a:picLocks noChangeAspect="1"/>
          </p:cNvPicPr>
          <p:nvPr/>
        </p:nvPicPr>
        <p:blipFill>
          <a:blip r:embed="rId3"/>
          <a:stretch>
            <a:fillRect/>
          </a:stretch>
        </p:blipFill>
        <p:spPr>
          <a:xfrm>
            <a:off x="5774266" y="1083733"/>
            <a:ext cx="6417734" cy="5655734"/>
          </a:xfrm>
          <a:prstGeom prst="rect">
            <a:avLst/>
          </a:prstGeom>
        </p:spPr>
      </p:pic>
    </p:spTree>
    <p:extLst>
      <p:ext uri="{BB962C8B-B14F-4D97-AF65-F5344CB8AC3E}">
        <p14:creationId xmlns:p14="http://schemas.microsoft.com/office/powerpoint/2010/main" val="1604048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DE2692-BEBF-7455-5E1C-638ADEF5F887}"/>
              </a:ext>
            </a:extLst>
          </p:cNvPr>
          <p:cNvPicPr>
            <a:picLocks noChangeAspect="1"/>
          </p:cNvPicPr>
          <p:nvPr/>
        </p:nvPicPr>
        <p:blipFill>
          <a:blip r:embed="rId2"/>
          <a:stretch>
            <a:fillRect/>
          </a:stretch>
        </p:blipFill>
        <p:spPr>
          <a:xfrm>
            <a:off x="135468" y="914400"/>
            <a:ext cx="5266265" cy="5943600"/>
          </a:xfrm>
          <a:prstGeom prst="rect">
            <a:avLst/>
          </a:prstGeom>
        </p:spPr>
      </p:pic>
      <p:pic>
        <p:nvPicPr>
          <p:cNvPr id="10" name="Picture 9">
            <a:extLst>
              <a:ext uri="{FF2B5EF4-FFF2-40B4-BE49-F238E27FC236}">
                <a16:creationId xmlns:a16="http://schemas.microsoft.com/office/drawing/2014/main" id="{4BDBD890-2204-82E8-C1F7-51E028F88E02}"/>
              </a:ext>
            </a:extLst>
          </p:cNvPr>
          <p:cNvPicPr>
            <a:picLocks noChangeAspect="1"/>
          </p:cNvPicPr>
          <p:nvPr/>
        </p:nvPicPr>
        <p:blipFill>
          <a:blip r:embed="rId3"/>
          <a:stretch>
            <a:fillRect/>
          </a:stretch>
        </p:blipFill>
        <p:spPr>
          <a:xfrm>
            <a:off x="5012266" y="923182"/>
            <a:ext cx="7179733" cy="5816285"/>
          </a:xfrm>
          <a:prstGeom prst="rect">
            <a:avLst/>
          </a:prstGeom>
        </p:spPr>
      </p:pic>
    </p:spTree>
    <p:extLst>
      <p:ext uri="{BB962C8B-B14F-4D97-AF65-F5344CB8AC3E}">
        <p14:creationId xmlns:p14="http://schemas.microsoft.com/office/powerpoint/2010/main" val="2841753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E8765E-3E9F-4452-980F-A7268A8F1E8F}"/>
              </a:ext>
            </a:extLst>
          </p:cNvPr>
          <p:cNvPicPr>
            <a:picLocks noChangeAspect="1"/>
          </p:cNvPicPr>
          <p:nvPr/>
        </p:nvPicPr>
        <p:blipFill>
          <a:blip r:embed="rId2"/>
          <a:stretch>
            <a:fillRect/>
          </a:stretch>
        </p:blipFill>
        <p:spPr>
          <a:xfrm>
            <a:off x="5604932" y="923182"/>
            <a:ext cx="6587067" cy="5748551"/>
          </a:xfrm>
          <a:prstGeom prst="rect">
            <a:avLst/>
          </a:prstGeom>
        </p:spPr>
      </p:pic>
      <p:pic>
        <p:nvPicPr>
          <p:cNvPr id="5" name="Picture 4">
            <a:extLst>
              <a:ext uri="{FF2B5EF4-FFF2-40B4-BE49-F238E27FC236}">
                <a16:creationId xmlns:a16="http://schemas.microsoft.com/office/drawing/2014/main" id="{6D909594-3250-E6A1-7411-D08D0BC008EE}"/>
              </a:ext>
            </a:extLst>
          </p:cNvPr>
          <p:cNvPicPr>
            <a:picLocks noChangeAspect="1"/>
          </p:cNvPicPr>
          <p:nvPr/>
        </p:nvPicPr>
        <p:blipFill>
          <a:blip r:embed="rId3"/>
          <a:stretch>
            <a:fillRect/>
          </a:stretch>
        </p:blipFill>
        <p:spPr>
          <a:xfrm>
            <a:off x="0" y="923182"/>
            <a:ext cx="5469467" cy="5934818"/>
          </a:xfrm>
          <a:prstGeom prst="rect">
            <a:avLst/>
          </a:prstGeom>
        </p:spPr>
      </p:pic>
    </p:spTree>
    <p:extLst>
      <p:ext uri="{BB962C8B-B14F-4D97-AF65-F5344CB8AC3E}">
        <p14:creationId xmlns:p14="http://schemas.microsoft.com/office/powerpoint/2010/main" val="1173509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2334DB-1130-98E0-3A2F-1CBFF4523A92}"/>
              </a:ext>
            </a:extLst>
          </p:cNvPr>
          <p:cNvSpPr txBox="1"/>
          <p:nvPr/>
        </p:nvSpPr>
        <p:spPr>
          <a:xfrm>
            <a:off x="271111" y="1198345"/>
            <a:ext cx="6755331" cy="5838778"/>
          </a:xfrm>
          <a:prstGeom prst="rect">
            <a:avLst/>
          </a:prstGeom>
          <a:noFill/>
          <a:ln>
            <a:solidFill>
              <a:schemeClr val="tx1">
                <a:lumMod val="75000"/>
                <a:lumOff val="25000"/>
              </a:schemeClr>
            </a:solidFill>
          </a:ln>
        </p:spPr>
        <p:txBody>
          <a:bodyPr wrap="square" rtlCol="0">
            <a:spAutoFit/>
          </a:bodyPr>
          <a:lstStyle/>
          <a:p>
            <a:r>
              <a:rPr lang="en-IN" b="1" dirty="0"/>
              <a:t>📁 Final Project Structure</a:t>
            </a:r>
            <a:endParaRPr lang="en-IN" dirty="0"/>
          </a:p>
          <a:p>
            <a:r>
              <a:rPr lang="en-IN" dirty="0" err="1"/>
              <a:t>Tree_Species_Classification</a:t>
            </a:r>
            <a:r>
              <a:rPr lang="en-IN" dirty="0"/>
              <a:t>/</a:t>
            </a:r>
          </a:p>
          <a:p>
            <a:r>
              <a:rPr lang="en-IN" dirty="0"/>
              <a:t>│</a:t>
            </a:r>
          </a:p>
          <a:p>
            <a:r>
              <a:rPr lang="en-IN" dirty="0"/>
              <a:t>├── dataset/</a:t>
            </a:r>
          </a:p>
          <a:p>
            <a:r>
              <a:rPr lang="en-IN" dirty="0"/>
              <a:t>│   ├── train/</a:t>
            </a:r>
          </a:p>
          <a:p>
            <a:r>
              <a:rPr lang="en-IN" dirty="0"/>
              <a:t>│   │   ├── species_1/</a:t>
            </a:r>
          </a:p>
          <a:p>
            <a:r>
              <a:rPr lang="en-IN" dirty="0"/>
              <a:t>│   │   ├── species_2/</a:t>
            </a:r>
          </a:p>
          <a:p>
            <a:r>
              <a:rPr lang="en-IN" dirty="0"/>
              <a:t>│   │   └── </a:t>
            </a:r>
            <a:r>
              <a:rPr lang="en-IN" dirty="0" err="1"/>
              <a:t>species_n</a:t>
            </a:r>
            <a:r>
              <a:rPr lang="en-IN" dirty="0"/>
              <a:t>/</a:t>
            </a:r>
          </a:p>
          <a:p>
            <a:r>
              <a:rPr lang="en-IN" dirty="0"/>
              <a:t>│   │</a:t>
            </a:r>
          </a:p>
          <a:p>
            <a:r>
              <a:rPr lang="en-IN" dirty="0"/>
              <a:t>│   └── test/</a:t>
            </a:r>
          </a:p>
          <a:p>
            <a:r>
              <a:rPr lang="en-IN" dirty="0"/>
              <a:t>│</a:t>
            </a:r>
          </a:p>
          <a:p>
            <a:r>
              <a:rPr lang="en-IN" dirty="0"/>
              <a:t>├── app.py                # </a:t>
            </a:r>
            <a:r>
              <a:rPr lang="en-IN" dirty="0" err="1"/>
              <a:t>Streamlit</a:t>
            </a:r>
            <a:r>
              <a:rPr lang="en-IN" dirty="0"/>
              <a:t> web application</a:t>
            </a:r>
          </a:p>
          <a:p>
            <a:r>
              <a:rPr lang="en-IN" dirty="0"/>
              <a:t>├── train_model.py        # Model training script</a:t>
            </a:r>
          </a:p>
          <a:p>
            <a:r>
              <a:rPr lang="en-IN" dirty="0"/>
              <a:t>├── predict.py            # Prediction script</a:t>
            </a:r>
          </a:p>
          <a:p>
            <a:r>
              <a:rPr lang="en-IN" dirty="0"/>
              <a:t>├── tree_species_model.h5 # Trained CNN model</a:t>
            </a:r>
          </a:p>
          <a:p>
            <a:r>
              <a:rPr lang="en-IN" dirty="0"/>
              <a:t>├── run_project.bat       # One-click project launcher</a:t>
            </a:r>
          </a:p>
          <a:p>
            <a:r>
              <a:rPr lang="en-IN" dirty="0"/>
              <a:t>├── requirements.txt      # Required libraries</a:t>
            </a:r>
          </a:p>
          <a:p>
            <a:r>
              <a:rPr lang="en-IN" dirty="0"/>
              <a:t>├── README.md             # Project documentation</a:t>
            </a:r>
          </a:p>
          <a:p>
            <a:r>
              <a:rPr lang="en-IN" dirty="0"/>
              <a:t>└── Project_Report.pdf    # Project report</a:t>
            </a:r>
          </a:p>
          <a:p>
            <a:endParaRPr lang="en-IN" dirty="0"/>
          </a:p>
        </p:txBody>
      </p:sp>
      <p:pic>
        <p:nvPicPr>
          <p:cNvPr id="5" name="Picture 4" descr="A diagram of a tree survey">
            <a:extLst>
              <a:ext uri="{FF2B5EF4-FFF2-40B4-BE49-F238E27FC236}">
                <a16:creationId xmlns:a16="http://schemas.microsoft.com/office/drawing/2014/main" id="{E864C9E8-6B3D-057C-008F-F33044435966}"/>
              </a:ext>
            </a:extLst>
          </p:cNvPr>
          <p:cNvPicPr>
            <a:picLocks noChangeAspect="1"/>
          </p:cNvPicPr>
          <p:nvPr/>
        </p:nvPicPr>
        <p:blipFill>
          <a:blip r:embed="rId2"/>
          <a:srcRect t="8687"/>
          <a:stretch>
            <a:fillRect/>
          </a:stretch>
        </p:blipFill>
        <p:spPr>
          <a:xfrm>
            <a:off x="7377481" y="956109"/>
            <a:ext cx="4308910" cy="5901891"/>
          </a:xfrm>
          <a:prstGeom prst="rect">
            <a:avLst/>
          </a:prstGeom>
          <a:ln>
            <a:solidFill>
              <a:schemeClr val="tx1">
                <a:lumMod val="75000"/>
                <a:lumOff val="25000"/>
              </a:schemeClr>
            </a:solidFill>
          </a:ln>
        </p:spPr>
      </p:pic>
    </p:spTree>
    <p:extLst>
      <p:ext uri="{BB962C8B-B14F-4D97-AF65-F5344CB8AC3E}">
        <p14:creationId xmlns:p14="http://schemas.microsoft.com/office/powerpoint/2010/main" val="2361166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82952" y="988151"/>
            <a:ext cx="12009047" cy="2523768"/>
          </a:xfrm>
          <a:prstGeom prst="rect">
            <a:avLst/>
          </a:prstGeom>
          <a:noFill/>
        </p:spPr>
        <p:txBody>
          <a:bodyPr wrap="square">
            <a:spAutoFit/>
          </a:bodyPr>
          <a:lstStyle/>
          <a:p>
            <a:r>
              <a:rPr lang="en-US" sz="2000" b="1" dirty="0"/>
              <a:t>✅ Conclusion</a:t>
            </a:r>
          </a:p>
          <a:p>
            <a:r>
              <a:rPr lang="en-US" sz="2000" dirty="0"/>
              <a:t>In this project, a </a:t>
            </a:r>
            <a:r>
              <a:rPr lang="en-US" sz="2000" b="1" dirty="0"/>
              <a:t>Tree Species Classification System</a:t>
            </a:r>
            <a:r>
              <a:rPr lang="en-US" sz="2000" dirty="0"/>
              <a:t> was successfully developed using </a:t>
            </a:r>
            <a:r>
              <a:rPr lang="en-US" sz="2000" b="1" dirty="0"/>
              <a:t>deep learning techniques</a:t>
            </a:r>
            <a:r>
              <a:rPr lang="en-US" sz="2000" dirty="0"/>
              <a:t>. The system accurately identifies tree species from leaf images using a </a:t>
            </a:r>
            <a:r>
              <a:rPr lang="en-US" sz="2000" b="1" dirty="0"/>
              <a:t>Convolutional Neural Network (CNN)</a:t>
            </a:r>
            <a:r>
              <a:rPr lang="en-US" sz="2000" dirty="0"/>
              <a:t>. By deploying the model as a </a:t>
            </a:r>
            <a:r>
              <a:rPr lang="en-US" sz="2000" b="1" dirty="0"/>
              <a:t>web-based application</a:t>
            </a:r>
            <a:r>
              <a:rPr lang="en-US" sz="2000" dirty="0"/>
              <a:t>, the project provides an easy and efficient way for users to classify tree species without expert knowledge. This approach reduces manual effort, improves accuracy, and demonstrates the practical application of AI in environmental and forestry studies.</a:t>
            </a:r>
          </a:p>
          <a:p>
            <a:endParaRPr lang="en-IN" sz="1800"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173</TotalTime>
  <Words>755</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dasuswapnika@outlook.com</cp:lastModifiedBy>
  <cp:revision>7</cp:revision>
  <dcterms:created xsi:type="dcterms:W3CDTF">2024-12-31T09:40:01Z</dcterms:created>
  <dcterms:modified xsi:type="dcterms:W3CDTF">2026-01-18T13:49:45Z</dcterms:modified>
</cp:coreProperties>
</file>